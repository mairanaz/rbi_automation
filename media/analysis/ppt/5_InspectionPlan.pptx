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9906000"/>
  <p:notesSz cx="10020300" cy="688782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  <p:ext uri="GoogleSlidesCustomDataVersion2">
      <go:slidesCustomData xmlns:go="http://customooxmlschemas.google.com/" r:id="rId17" roundtripDataSignature="AMtx7mi63UC9Eo4fSiesXjw4TJcT6Qam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26ED8B8-383D-46B1-9283-A5D47E2EBEE0}">
  <a:tblStyle styleId="{E26ED8B8-383D-46B1-9283-A5D47E2EBEE0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164F9CAC-751D-4B60-BAEC-8DFBA56E9226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fill>
          <a:solidFill>
            <a:srgbClr val="E7F3F4"/>
          </a:solidFill>
        </a:fill>
      </a:tcStyle>
    </a:band1H>
    <a:band2H>
      <a:tcTxStyle/>
    </a:band2H>
    <a:band1V>
      <a:tcTxStyle/>
      <a:tcStyle>
        <a:fill>
          <a:solidFill>
            <a:srgbClr val="E7F3F4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12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170" orient="horz"/>
        <p:guide pos="3156"/>
      </p:guideLst>
    </p:cSldViewPr>
  </p:notes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975" lIns="91975" spcFirstLastPara="1" rIns="91975" wrap="square" tIns="459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975" lIns="91975" spcFirstLastPara="1" rIns="91975" wrap="square" tIns="459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anchorCtr="0" anchor="t" bIns="45975" lIns="91975" spcFirstLastPara="1" rIns="91975" wrap="square" tIns="45975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b" bIns="45975" lIns="91975" spcFirstLastPara="1" rIns="91975" wrap="square" tIns="459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b" bIns="45975" lIns="91975" spcFirstLastPara="1" rIns="91975" wrap="square" tIns="459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MY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8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9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0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1400" u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b="1" sz="1400" u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b="1"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1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b="1"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1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0" name="Google Shape;20;p1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1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1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1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b="1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1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1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1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" name="Google Shape;34;p1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p1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" name="Google Shape;37;p1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" name="Google Shape;38;p1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" name="Google Shape;39;p1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" name="Google Shape;40;p1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" name="Google Shape;41;p1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1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b="1"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1"/>
          <p:cNvGraphicFramePr/>
          <p:nvPr/>
        </p:nvGraphicFramePr>
        <p:xfrm>
          <a:off x="475862" y="8971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{E26ED8B8-383D-46B1-9283-A5D47E2EBEE0}</a:tableStyleId>
              </a:tblPr>
              <a:tblGrid>
                <a:gridCol w="1088975"/>
                <a:gridCol w="843850"/>
                <a:gridCol w="1020175"/>
                <a:gridCol w="583250"/>
                <a:gridCol w="710425"/>
                <a:gridCol w="382850"/>
                <a:gridCol w="803475"/>
                <a:gridCol w="494625"/>
                <a:gridCol w="609075"/>
                <a:gridCol w="804525"/>
                <a:gridCol w="1707900"/>
              </a:tblGrid>
              <a:tr h="10000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b="0" sz="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cap="none" strike="noStrike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Air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 Head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SA-516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70L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MY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MY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3.6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Air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SA-516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70L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MY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MY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3.6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  <a:tr h="243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Air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Bottom Head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SA-516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70L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MY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MY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3.6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sp>
        <p:nvSpPr>
          <p:cNvPr id="50" name="Google Shape;50;p1"/>
          <p:cNvSpPr txBox="1"/>
          <p:nvPr/>
        </p:nvSpPr>
        <p:spPr>
          <a:xfrm>
            <a:off x="2914650" y="495040"/>
            <a:ext cx="25146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Air Receiver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"/>
          <p:cNvSpPr txBox="1"/>
          <p:nvPr/>
        </p:nvSpPr>
        <p:spPr>
          <a:xfrm>
            <a:off x="5676900" y="496864"/>
            <a:ext cx="990600" cy="245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V-001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Google Shape;5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337629" y="3010527"/>
            <a:ext cx="3800793" cy="28630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{164F9CAC-751D-4B60-BAEC-8DFBA56E9226}</a:tableStyleId>
              </a:tblPr>
              <a:tblGrid>
                <a:gridCol w="1152925"/>
                <a:gridCol w="2028825"/>
                <a:gridCol w="1295400"/>
              </a:tblGrid>
              <a:tr h="958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4" name="Google Shape;54;p1"/>
          <p:cNvSpPr txBox="1"/>
          <p:nvPr/>
        </p:nvSpPr>
        <p:spPr>
          <a:xfrm>
            <a:off x="7391400" y="457200"/>
            <a:ext cx="1264920" cy="245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MLK PMT 10101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" name="Google Shape;59;p2"/>
          <p:cNvGraphicFramePr/>
          <p:nvPr/>
        </p:nvGraphicFramePr>
        <p:xfrm>
          <a:off x="475862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{E26ED8B8-383D-46B1-9283-A5D47E2EBEE0}</a:tableStyleId>
              </a:tblPr>
              <a:tblGrid>
                <a:gridCol w="1029825"/>
                <a:gridCol w="1289525"/>
                <a:gridCol w="964775"/>
                <a:gridCol w="551575"/>
                <a:gridCol w="605500"/>
                <a:gridCol w="416950"/>
                <a:gridCol w="771275"/>
                <a:gridCol w="467750"/>
                <a:gridCol w="576000"/>
                <a:gridCol w="760825"/>
                <a:gridCol w="16151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 wrap="none" anchor="ctr"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CHILLED WATER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 Head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 anchor="ctr"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SS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 anchor="ctr"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SA 240 M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 anchor="ctr"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316L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 anchor="ctr"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N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 anchor="ctr"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100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 anchor="ctr"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1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 wrap="none" anchor="ctr"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CHILLED WATER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 anchor="ctr"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SS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 anchor="ctr"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SA 240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 anchor="ctr"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316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 anchor="ctr"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N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 anchor="ctr"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100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 anchor="ctr"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1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  <a:tr h="243125">
                <a:tc>
                  <a:txBody>
                    <a:bodyPr wrap="none" anchor="ctr"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CHILLED WATER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Bottom Head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 anchor="ctr"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SS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 anchor="ctr"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SA 240 M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 anchor="ctr"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316L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 anchor="ctr"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N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 anchor="ctr"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100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 anchor="ctr"/>
                    <a:lstStyle/>
                    <a:p>
                      <a:pPr algn="ctr"/>
                      <a:r>
                        <a:rPr sz="800">
                          <a:latin typeface="Arial"/>
                        </a:rPr>
                        <a:t>1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graphicFrame>
        <p:nvGraphicFramePr>
          <p:cNvPr id="61" name="Google Shape;61;p2"/>
          <p:cNvGraphicFramePr/>
          <p:nvPr/>
        </p:nvGraphicFramePr>
        <p:xfrm>
          <a:off x="475862" y="30043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{164F9CAC-751D-4B60-BAEC-8DFBA56E9226}</a:tableStyleId>
              </a:tblPr>
              <a:tblGrid>
                <a:gridCol w="1152925"/>
                <a:gridCol w="1800225"/>
                <a:gridCol w="1524000"/>
              </a:tblGrid>
              <a:tr h="101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2" name="TextBox 61"/>
          <p:cNvSpPr txBox="1"/>
          <p:nvPr/>
        </p:nvSpPr>
        <p:spPr>
          <a:xfrm>
            <a:off x="2914650" y="495040"/>
            <a:ext cx="2514600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>
                <a:latin typeface="Arial"/>
              </a:rPr>
              <a:t>Expansion Tank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76900" y="496864"/>
            <a:ext cx="990600" cy="245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>
                <a:latin typeface="Arial"/>
              </a:rPr>
              <a:t>V-002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91400" y="457200"/>
            <a:ext cx="1264920" cy="245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>
                <a:latin typeface="Arial"/>
              </a:rPr>
              <a:t>MLK PMT 10102</a:t>
            </a:r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2600" y="2426878"/>
            <a:ext cx="3431333" cy="38328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" name="Google Shape;66;p3"/>
          <p:cNvGraphicFramePr/>
          <p:nvPr/>
        </p:nvGraphicFramePr>
        <p:xfrm>
          <a:off x="475862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{E26ED8B8-383D-46B1-9283-A5D47E2EBEE0}</a:tableStyleId>
              </a:tblPr>
              <a:tblGrid>
                <a:gridCol w="1029825"/>
                <a:gridCol w="1289525"/>
                <a:gridCol w="964775"/>
                <a:gridCol w="551575"/>
                <a:gridCol w="605500"/>
                <a:gridCol w="416950"/>
                <a:gridCol w="771275"/>
                <a:gridCol w="467750"/>
                <a:gridCol w="495275"/>
                <a:gridCol w="841575"/>
                <a:gridCol w="16151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Steam Condensate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Under Insulation(CUI)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46975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Top Head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Bottom Head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pic>
        <p:nvPicPr>
          <p:cNvPr id="67" name="Google Shape;6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6074" y="2657028"/>
            <a:ext cx="2667000" cy="358838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8" name="Google Shape;68;p3"/>
          <p:cNvGraphicFramePr/>
          <p:nvPr/>
        </p:nvGraphicFramePr>
        <p:xfrm>
          <a:off x="541998" y="29130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{164F9CAC-751D-4B60-BAEC-8DFBA56E9226}</a:tableStyleId>
              </a:tblPr>
              <a:tblGrid>
                <a:gridCol w="1058200"/>
                <a:gridCol w="1676400"/>
                <a:gridCol w="1285325"/>
              </a:tblGrid>
              <a:tr h="101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EMAT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b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Remove &gt;5% of suspected area (as per Attachment 2).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 or pit gauges as required if visual inspection reveal CUI as necessary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CUI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3" name="Google Shape;73;p4"/>
          <p:cNvGraphicFramePr/>
          <p:nvPr/>
        </p:nvGraphicFramePr>
        <p:xfrm>
          <a:off x="475863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{E26ED8B8-383D-46B1-9283-A5D47E2EBEE0}</a:tableStyleId>
              </a:tblPr>
              <a:tblGrid>
                <a:gridCol w="1029825"/>
                <a:gridCol w="1289525"/>
                <a:gridCol w="964775"/>
                <a:gridCol w="551575"/>
                <a:gridCol w="605500"/>
                <a:gridCol w="416950"/>
                <a:gridCol w="771275"/>
                <a:gridCol w="467750"/>
                <a:gridCol w="576000"/>
                <a:gridCol w="760825"/>
                <a:gridCol w="16151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CUI-CLSCC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Head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pic>
        <p:nvPicPr>
          <p:cNvPr id="74" name="Google Shape;74;p4"/>
          <p:cNvPicPr preferRelativeResize="0"/>
          <p:nvPr/>
        </p:nvPicPr>
        <p:blipFill rotWithShape="1">
          <a:blip r:embed="rId3">
            <a:alphaModFix/>
          </a:blip>
          <a:srcRect b="5904" l="0" r="0" t="0"/>
          <a:stretch/>
        </p:blipFill>
        <p:spPr>
          <a:xfrm>
            <a:off x="2960197" y="2379023"/>
            <a:ext cx="3516803" cy="157544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5" name="Google Shape;75;p4"/>
          <p:cNvGraphicFramePr/>
          <p:nvPr/>
        </p:nvGraphicFramePr>
        <p:xfrm>
          <a:off x="990600" y="39901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{164F9CAC-751D-4B60-BAEC-8DFBA56E9226}</a:tableStyleId>
              </a:tblPr>
              <a:tblGrid>
                <a:gridCol w="1856875"/>
                <a:gridCol w="4812975"/>
                <a:gridCol w="1485900"/>
              </a:tblGrid>
              <a:tr h="179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208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7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external visual inspection prior to insulation removal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 Ref: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1. General VI. Ext Inspection Checklist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2. CUI-CLSCC inspection checklist.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r>
                        <a:rPr b="1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 suspected area where accessible: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&gt; 5% DPT or Eddy Current Testing with UT follow up of all relevant indication.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CUI-CLSCC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2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DPI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(High Temp)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 suspected area where accessible: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&gt; 5% DPT or Eddy Current Testing with UT follow up of all relevant indication as per Attachment 2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CUI-CLSCC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" name="Google Shape;80;p5"/>
          <p:cNvGraphicFramePr/>
          <p:nvPr/>
        </p:nvGraphicFramePr>
        <p:xfrm>
          <a:off x="475862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{E26ED8B8-383D-46B1-9283-A5D47E2EBEE0}</a:tableStyleId>
              </a:tblPr>
              <a:tblGrid>
                <a:gridCol w="1200550"/>
                <a:gridCol w="827900"/>
                <a:gridCol w="1000900"/>
                <a:gridCol w="572225"/>
                <a:gridCol w="628175"/>
                <a:gridCol w="476000"/>
                <a:gridCol w="756725"/>
                <a:gridCol w="485275"/>
                <a:gridCol w="597575"/>
                <a:gridCol w="789325"/>
                <a:gridCol w="16756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 Side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 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Tube Side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Sulfuric Acid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Shell Side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Tube Side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CUI-CLSCC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 Channel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(Tube Side)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  <a:tr h="267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Bottom Channel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(Tube Side)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pic>
        <p:nvPicPr>
          <p:cNvPr id="81" name="Google Shape;8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49325" y="2584324"/>
            <a:ext cx="1539373" cy="372287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2" name="Google Shape;82;p5"/>
          <p:cNvGraphicFramePr/>
          <p:nvPr/>
        </p:nvGraphicFramePr>
        <p:xfrm>
          <a:off x="475862" y="258432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{164F9CAC-751D-4B60-BAEC-8DFBA56E9226}</a:tableStyleId>
              </a:tblPr>
              <a:tblGrid>
                <a:gridCol w="1039575"/>
                <a:gridCol w="3019925"/>
                <a:gridCol w="1484450"/>
              </a:tblGrid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Sulfuric Acid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external visual inspection prior to insulation removal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 Ref: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1. General VI. Ext Inspection Checklist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2. CUI-CLSCC inspection checklist.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r>
                        <a:rPr b="1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 suspected area where accessible: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&gt; 5% DPT or Eddy Current Testing with UT follow up of all relevant indication.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CUI-CLSCC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DPI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(High Temp)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 suspected area where accessible: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&gt; 5% DPT or Eddy Current Testing with UT follow up of all relevant indication as per Attachment 2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CUI-CLSCC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" name="Google Shape;87;p6"/>
          <p:cNvGraphicFramePr/>
          <p:nvPr/>
        </p:nvGraphicFramePr>
        <p:xfrm>
          <a:off x="442104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{E26ED8B8-383D-46B1-9283-A5D47E2EBEE0}</a:tableStyleId>
              </a:tblPr>
              <a:tblGrid>
                <a:gridCol w="1033650"/>
                <a:gridCol w="1294350"/>
                <a:gridCol w="968375"/>
                <a:gridCol w="553625"/>
                <a:gridCol w="607750"/>
                <a:gridCol w="434125"/>
                <a:gridCol w="758525"/>
                <a:gridCol w="469500"/>
                <a:gridCol w="497125"/>
                <a:gridCol w="844700"/>
                <a:gridCol w="1621150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Steam Condensate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Under Insulation(CUI)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Head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pic>
        <p:nvPicPr>
          <p:cNvPr id="88" name="Google Shape;8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48030" y="2733881"/>
            <a:ext cx="4071046" cy="154198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9" name="Google Shape;89;p6"/>
          <p:cNvGraphicFramePr/>
          <p:nvPr/>
        </p:nvGraphicFramePr>
        <p:xfrm>
          <a:off x="1926877" y="4419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{164F9CAC-751D-4B60-BAEC-8DFBA56E9226}</a:tableStyleId>
              </a:tblPr>
              <a:tblGrid>
                <a:gridCol w="1644825"/>
                <a:gridCol w="2605725"/>
                <a:gridCol w="1997875"/>
              </a:tblGrid>
              <a:tr h="101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b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Remove &gt;5% of suspected area (as per Attachment 2).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 or pit gauges as required if visual inspection reveal CUI as necessary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CUI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" name="Google Shape;94;p7"/>
          <p:cNvGraphicFramePr/>
          <p:nvPr/>
        </p:nvGraphicFramePr>
        <p:xfrm>
          <a:off x="475862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{E26ED8B8-383D-46B1-9283-A5D47E2EBEE0}</a:tableStyleId>
              </a:tblPr>
              <a:tblGrid>
                <a:gridCol w="1200550"/>
                <a:gridCol w="827900"/>
                <a:gridCol w="1000900"/>
                <a:gridCol w="572225"/>
                <a:gridCol w="628175"/>
                <a:gridCol w="476000"/>
                <a:gridCol w="756725"/>
                <a:gridCol w="485275"/>
                <a:gridCol w="597575"/>
                <a:gridCol w="789325"/>
                <a:gridCol w="16756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 Side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Tube Side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Channel (Tube Side)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pic>
        <p:nvPicPr>
          <p:cNvPr id="95" name="Google Shape;9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07163" y="2338187"/>
            <a:ext cx="6096000" cy="240907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6" name="Google Shape;96;p7"/>
          <p:cNvGraphicFramePr/>
          <p:nvPr/>
        </p:nvGraphicFramePr>
        <p:xfrm>
          <a:off x="1623526" y="49781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{164F9CAC-751D-4B60-BAEC-8DFBA56E9226}</a:tableStyleId>
              </a:tblPr>
              <a:tblGrid>
                <a:gridCol w="1544300"/>
                <a:gridCol w="3613975"/>
                <a:gridCol w="1905000"/>
              </a:tblGrid>
              <a:tr h="101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EMAT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external visual inspection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 Ref: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1. General VI. Ext Inspection Checklist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" name="Google Shape;101;p8"/>
          <p:cNvGraphicFramePr/>
          <p:nvPr/>
        </p:nvGraphicFramePr>
        <p:xfrm>
          <a:off x="475862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{E26ED8B8-383D-46B1-9283-A5D47E2EBEE0}</a:tableStyleId>
              </a:tblPr>
              <a:tblGrid>
                <a:gridCol w="1200550"/>
                <a:gridCol w="827900"/>
                <a:gridCol w="1000900"/>
                <a:gridCol w="572225"/>
                <a:gridCol w="628175"/>
                <a:gridCol w="476000"/>
                <a:gridCol w="756725"/>
                <a:gridCol w="485275"/>
                <a:gridCol w="597575"/>
                <a:gridCol w="789325"/>
                <a:gridCol w="16756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 Side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Sulfuric Acid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Tube Side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Channel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pic>
        <p:nvPicPr>
          <p:cNvPr id="102" name="Google Shape;10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3530" y="2781860"/>
            <a:ext cx="7803265" cy="1508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3" name="Google Shape;103;p8"/>
          <p:cNvGraphicFramePr/>
          <p:nvPr/>
        </p:nvGraphicFramePr>
        <p:xfrm>
          <a:off x="1623526" y="49781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{164F9CAC-751D-4B60-BAEC-8DFBA56E9226}</a:tableStyleId>
              </a:tblPr>
              <a:tblGrid>
                <a:gridCol w="1544300"/>
                <a:gridCol w="3613975"/>
                <a:gridCol w="1905000"/>
              </a:tblGrid>
              <a:tr h="101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Sulfuric Acid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external visual inspection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 Ref: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1. General VI. Ext Inspection Checklist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" name="Google Shape;108;p9"/>
          <p:cNvGraphicFramePr/>
          <p:nvPr/>
        </p:nvGraphicFramePr>
        <p:xfrm>
          <a:off x="475862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{E26ED8B8-383D-46B1-9283-A5D47E2EBEE0}</a:tableStyleId>
              </a:tblPr>
              <a:tblGrid>
                <a:gridCol w="1200550"/>
                <a:gridCol w="827900"/>
                <a:gridCol w="1000900"/>
                <a:gridCol w="572225"/>
                <a:gridCol w="628175"/>
                <a:gridCol w="476000"/>
                <a:gridCol w="756725"/>
                <a:gridCol w="485275"/>
                <a:gridCol w="597575"/>
                <a:gridCol w="789325"/>
                <a:gridCol w="16756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 Side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Tube Side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Channel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graphicFrame>
        <p:nvGraphicFramePr>
          <p:cNvPr id="109" name="Google Shape;109;p9"/>
          <p:cNvGraphicFramePr/>
          <p:nvPr/>
        </p:nvGraphicFramePr>
        <p:xfrm>
          <a:off x="1623526" y="4419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{164F9CAC-751D-4B60-BAEC-8DFBA56E9226}</a:tableStyleId>
              </a:tblPr>
              <a:tblGrid>
                <a:gridCol w="1544300"/>
                <a:gridCol w="3133450"/>
                <a:gridCol w="1981200"/>
              </a:tblGrid>
              <a:tr h="101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external visual inspection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 Ref: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1. General VI. Ext Inspection Checklist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10" name="Google Shape;11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3669" y="2514600"/>
            <a:ext cx="7178662" cy="1554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5" name="Google Shape;115;p10"/>
          <p:cNvGraphicFramePr/>
          <p:nvPr/>
        </p:nvGraphicFramePr>
        <p:xfrm>
          <a:off x="475862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{E26ED8B8-383D-46B1-9283-A5D47E2EBEE0}</a:tableStyleId>
              </a:tblPr>
              <a:tblGrid>
                <a:gridCol w="1200550"/>
                <a:gridCol w="827900"/>
                <a:gridCol w="1000900"/>
                <a:gridCol w="572225"/>
                <a:gridCol w="628175"/>
                <a:gridCol w="476000"/>
                <a:gridCol w="756725"/>
                <a:gridCol w="485275"/>
                <a:gridCol w="597575"/>
                <a:gridCol w="789325"/>
                <a:gridCol w="16756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 (Tube Side)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Channel Head (Tube Side)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Channel 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(Tube Side)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graphicFrame>
        <p:nvGraphicFramePr>
          <p:cNvPr id="116" name="Google Shape;116;p10"/>
          <p:cNvGraphicFramePr/>
          <p:nvPr/>
        </p:nvGraphicFramePr>
        <p:xfrm>
          <a:off x="475862" y="267159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{164F9CAC-751D-4B60-BAEC-8DFBA56E9226}</a:tableStyleId>
              </a:tblPr>
              <a:tblGrid>
                <a:gridCol w="1270900"/>
                <a:gridCol w="1815675"/>
                <a:gridCol w="1390550"/>
              </a:tblGrid>
              <a:tr h="406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406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external visual inspection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 Ref: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1. General VI. Ext Inspection Checklist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17" name="Google Shape;11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4858" y="2379024"/>
            <a:ext cx="1501270" cy="3966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2003-08-11T02:14:00Z</dcterms:created>
  <dc:creator>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09506da1-5bd9-42b2-b37a-290d9738e2d2</vt:lpwstr>
  </property>
  <property fmtid="{D5CDD505-2E9C-101B-9397-08002B2CF9AE}" pid="3" name="bjSaver">
    <vt:lpwstr>j7wJqKEXWAG6n9tPB5NWuF+UG18V4TCp</vt:lpwstr>
  </property>
  <property fmtid="{D5CDD505-2E9C-101B-9397-08002B2CF9AE}" pid="4" name="bjDocumentLabelXML">
    <vt:lpwstr>&lt;?xml version="1.0" encoding="us-ascii"?&gt;&lt;sisl xmlns:xsi="http://www.w3.org/2001/XMLSchema-instance" xmlns:xsd="http://www.w3.org/2001/XMLSchema" sislVersion="0" policy="a894df29-9e07-45ae-95a6-4e7eb881815a" xmlns="http://www.boldonjames.com/2008/01/sie/i</vt:lpwstr>
  </property>
  <property fmtid="{D5CDD505-2E9C-101B-9397-08002B2CF9AE}" pid="5" name="bjDocumentLabelXML-0">
    <vt:lpwstr>nternal/label"&gt;&lt;element uid="01a40373-b9dd-4b9b-9ec4-eb7a27c52a46" value="" /&gt;&lt;/sisl&gt;</vt:lpwstr>
  </property>
  <property fmtid="{D5CDD505-2E9C-101B-9397-08002B2CF9AE}" pid="6" name="bjDocumentSecurityLabel">
    <vt:lpwstr>[Open]</vt:lpwstr>
  </property>
  <property fmtid="{D5CDD505-2E9C-101B-9397-08002B2CF9AE}" pid="7" name="DCSMetadata">
    <vt:lpwstr>P37r0n45DCS_Open</vt:lpwstr>
  </property>
  <property fmtid="{D5CDD505-2E9C-101B-9397-08002B2CF9AE}" pid="8" name="ICV">
    <vt:lpwstr>40B81A5394F64EE4895C0624F638C8CD_12</vt:lpwstr>
  </property>
  <property fmtid="{D5CDD505-2E9C-101B-9397-08002B2CF9AE}" pid="9" name="KSOProductBuildVer">
    <vt:lpwstr>1033-12.2.0.23131</vt:lpwstr>
  </property>
</Properties>
</file>